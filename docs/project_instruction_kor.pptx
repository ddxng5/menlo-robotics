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2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32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프로젝트는 LLM이 고수준 감독자로서 로봇을 지휘해 창고의 큐브 6개를 색상별 목적지로 분류하게 만드는 과제입니다. 소스 수정 없이 환경 변화에 적응하는 일반적 에이전트를 만드는 것이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팀은 동일한 자연어 과제를 받습니다. 핵심은 색상 순서와 시작 위치가 바뀌어도 소스 수정 없이 동작하는 하나의 일반적 에이전트라는 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LLM은 고수준 추론을 담당하고, perception·navigation·manipulation·validation·safety 같은 저수준 처리는 결정론적 코드가 담당합니다. 역할 분리가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고정된 창고 환경. 패드 위치·표지판·장애물·매칭 규칙은 고정, 큐브 색상과 로봇 시작 위치만 무작위. 다이어그램으로 배치를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표지판 A는 공급 구역(목적지 아님). B/C/D/E는 각각 빨강/초록/파랑/노랑 큐브의 목적지이며 배경색으로 구분됩니다.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팀은 세 레벨 중 하나를 선택. 레벨이 높을수록 정보 제약이 크고 배점도 큽니다. Level 0은 10점, Level 1은 20점, Level 2는 30점.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0는 scene_state로 전체 상태를 사용. perception/localization은 불필요. 핵심은 고정 스크립트가 아닌, LLM이 다음 행동을 의미 있게 결정하는 task planner 설계.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1은 scene_state 없음. 카메라로 target을 찾고, set_velocity로 접근하며, 학생이 직접 추정·기록한 좌표에 한해 coordinate go_to를 사용할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2는 scene_state도 coordinate go_to도 없음. 카메라와 수동 제어만으로 closed-loop navigation. observe → move briefly → observe again → correct or stop 흐름.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레벨별 허용 범위 매트릭스. Level 1/2는 카메라로 target 정보를 도출해야 하며 raw scene_state·정답 좌표·정확한 entity ID는 사용 불가.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팀이 구현해야 하는 필수 실행 loop. LLM은 저수준 명령을 직접 생성하지 않고 고수준 reasoning을 담당. 한 번만 호출하는 것은 충분하지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LLM은 structured output을 생성하고 학생 코드가 실행 전 검증. 최소 schema와 허용되는 next_action 값 9가지. color가 불필요한 action은 target_color가 null일 수 있음.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에이전트는 자연어 과제를 입력으로 받아야 하며, final 직전 hidden instruction이 추가될 수 있음(개수 제한, 색상 우선). 평가 중 소스 수정 불가이므로 prompt·schema·validation·memory로 처리.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사용·수정 가능한 helper module과 자주 쓰는 SDK 호출. 비전·상태 조회, set_head, set_velocity, cancel.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set_velocity 파라미터와 policy clip 범위. 새 명령은 실행 중인 go_to/set_velocity를 대체. 레벨별 go_to 제한과 WorkshopAgent 사용 제약을 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Practice(무작위), Interim(hidden 1세트), Final(다른 hidden + 선택적 자연어 변형). 공개 과제는 항상 동일. 평가 중 소스 수정 불가.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 100점. Task Performance 40, Project Level 30, Hidden Adaptation 20, Engineering &amp; Presentation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Performance 40점 = Task Completion 30(분류한 큐브 수) + LLM Efficiency 10(delivery당 평균 decision cycle 수, 적을수록 고득점). 잘못된 placement는 감점 또는 run 종료.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Level 30점 — 선택한 레벨의 제약을 지키며 큐브 3개 이상 delivery 시 최대점. Hidden Task Adaptation 20점 — 소스 수정 없이 final hidden 자연어 변형을 해석·수행.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&amp; Presentation 10점 — 발표에서 시스템 아키텍처·설계 결정·LLM 역할·validation/recovery·한계·실제 확장을 명확히. 오른쪽은 모든 팀 공통 요구사항.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Engineering &amp; Presentation 10점에서 발표해야 할 항목과, 시뮬레이션을 넘어 실제 agentic robotics로의 확장을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11203A">
                  <a:alpha val="100000"/>
                </a:srgbClr>
              </a:gs>
              <a:gs pos="55000">
                <a:srgbClr val="080B14">
                  <a:alpha val="100000"/>
                </a:srgbClr>
              </a:gs>
            </a:gsLst>
            <a:path path="circle">
              <a:fillToRect l="80000" t="10000" r="20000" b="9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26806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BRIEF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278018" y="914400"/>
            <a:ext cx="2962233" cy="815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800" kern="0" spc="252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x: </a:t>
            </a:r>
            <a:r>
              <a:rPr lang="en-US" sz="1800" kern="0" spc="252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0.00 </a:t>
            </a:r>
            <a:r>
              <a:rPr lang="en-US" sz="1800" kern="0" spc="252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y: </a:t>
            </a:r>
            <a:r>
              <a:rPr lang="en-US" sz="1800" kern="0" spc="252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0.00 </a:t>
            </a:r>
            <a:r>
              <a:rPr lang="en-US" sz="1800" kern="0" spc="252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θ: </a:t>
            </a:r>
            <a:r>
              <a:rPr lang="en-US" sz="1800" kern="0" spc="252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random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250066"/>
            <a:ext cx="17811751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Warehouse Cube Sorting · 2026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862388"/>
            <a:ext cx="16678276" cy="2098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800" b="1" kern="0" spc="-156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보조 로봇 에이전트 프로젝트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047750" y="6265579"/>
            <a:ext cx="1157668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고수준 작업 감독자가 되어, 창고의 큐브 여섯 개를 색상에 맞는 목적지 패드로 분류하는 자율 에이전트를 설계합니다.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47750" y="8795657"/>
            <a:ext cx="16192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9067801"/>
            <a:ext cx="10363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</a:t>
            </a:r>
            <a:r>
              <a:rPr lang="en-US" sz="18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cubes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5104" y="9067801"/>
            <a:ext cx="8991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</a:t>
            </a:r>
            <a:r>
              <a:rPr lang="en-US" sz="18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5281" y="9067801"/>
            <a:ext cx="11735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</a:t>
            </a:r>
            <a:r>
              <a:rPr lang="en-US" sz="18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99813" y="9067801"/>
            <a:ext cx="15088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 </a:t>
            </a:r>
            <a:r>
              <a:rPr lang="en-US" sz="18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points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THE TASK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14450"/>
            <a:ext cx="17811751" cy="767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500993"/>
            <a:ext cx="16192501" cy="251392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500993"/>
            <a:ext cx="38100" cy="2513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581150" y="2920093"/>
            <a:ext cx="16680181" cy="31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NATURAL-LANGUAGE INSTRUCTION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81150" y="3369129"/>
            <a:ext cx="15618715" cy="1264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45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창고에 있는 여섯 개의 큐브를 찾아 각 색상에 맞는 목적지 패드로 분류하세요.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047750" y="8191501"/>
            <a:ext cx="8717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일반적 에이전트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1" y="8648701"/>
            <a:ext cx="783834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큐브 색상 순서와 로봇 시작 위치가 바뀌어도 소스 코드를 수정하지 않고 동작해야 합니다.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15451" y="8191501"/>
            <a:ext cx="8717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5B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금지: 고정 스크립트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15451" y="8648701"/>
            <a:ext cx="816254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시작 위치나 색상 구성에서만 동작하는 하드코딩된 action sequence는 어떤 레벨에서도 허용되지 않습니다.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ARCHITECTURE PRINCIPLE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14450"/>
            <a:ext cx="17811751" cy="767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LLM의 역할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2291443"/>
            <a:ext cx="127539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실행 중 </a:t>
            </a:r>
            <a:r>
              <a:rPr lang="en-US" sz="225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고수준 작업 감독자 </a:t>
            </a: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 관찰값·메모리·최근 행동 결과를 바탕으로 다음에 무엇을 할지 결정합니다.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47750" y="3624943"/>
            <a:ext cx="7943851" cy="5823857"/>
          </a:xfrm>
          <a:prstGeom prst="roundRect">
            <a:avLst>
              <a:gd name="adj" fmla="val 1963"/>
            </a:avLst>
          </a:prstGeom>
          <a:solidFill>
            <a:srgbClr val="141C2E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9443357"/>
            <a:ext cx="794385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624943"/>
            <a:ext cx="7943851" cy="2721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624943"/>
            <a:ext cx="9525" cy="5823857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9" name="Shape 7"/>
          <p:cNvSpPr/>
          <p:nvPr/>
        </p:nvSpPr>
        <p:spPr>
          <a:xfrm>
            <a:off x="8986158" y="3624943"/>
            <a:ext cx="9525" cy="5823857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0" name="Text 8"/>
          <p:cNvSpPr/>
          <p:nvPr/>
        </p:nvSpPr>
        <p:spPr>
          <a:xfrm>
            <a:off x="1472293" y="4033157"/>
            <a:ext cx="7804241" cy="31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HIGH-LEVEL · LLM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72293" y="4444093"/>
            <a:ext cx="7804241" cy="424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 &amp; 추론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533253" y="5059136"/>
            <a:ext cx="7110005" cy="2011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86690" indent="-186690" algn="l">
              <a:lnSpc>
                <a:spcPct val="18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큐브 선택 · target 우선순위</a:t>
            </a:r>
            <a:endParaRPr lang="en-US" sz="2100" dirty="0"/>
          </a:p>
          <a:p>
            <a:pPr marL="186690" indent="-186690" algn="l">
              <a:lnSpc>
                <a:spcPct val="18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high-level action 결정</a:t>
            </a:r>
            <a:endParaRPr lang="en-US" sz="2100" dirty="0"/>
          </a:p>
          <a:p>
            <a:pPr marL="186690" indent="-186690" algn="l">
              <a:lnSpc>
                <a:spcPct val="18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후 recovery / retry / skip / stop</a:t>
            </a:r>
            <a:endParaRPr lang="en-US" sz="2100" dirty="0"/>
          </a:p>
          <a:p>
            <a:pPr marL="186690" indent="-186690" algn="l">
              <a:lnSpc>
                <a:spcPct val="18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hidden instruction 해석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296401" y="3624943"/>
            <a:ext cx="7943851" cy="5823857"/>
          </a:xfrm>
          <a:prstGeom prst="roundRect">
            <a:avLst>
              <a:gd name="adj" fmla="val 1963"/>
            </a:avLst>
          </a:prstGeom>
          <a:solidFill>
            <a:srgbClr val="101728"/>
          </a:solidFill>
          <a:ln/>
        </p:spPr>
      </p:sp>
      <p:sp>
        <p:nvSpPr>
          <p:cNvPr id="14" name="Shape 12"/>
          <p:cNvSpPr/>
          <p:nvPr/>
        </p:nvSpPr>
        <p:spPr>
          <a:xfrm>
            <a:off x="9296401" y="9443357"/>
            <a:ext cx="794385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296401" y="3624943"/>
            <a:ext cx="7943851" cy="27214"/>
          </a:xfrm>
          <a:prstGeom prst="rect">
            <a:avLst/>
          </a:prstGeom>
          <a:solidFill>
            <a:srgbClr val="93A0B4"/>
          </a:solidFill>
          <a:ln/>
        </p:spPr>
      </p:sp>
      <p:sp>
        <p:nvSpPr>
          <p:cNvPr id="16" name="Shape 14"/>
          <p:cNvSpPr/>
          <p:nvPr/>
        </p:nvSpPr>
        <p:spPr>
          <a:xfrm>
            <a:off x="9296401" y="3624943"/>
            <a:ext cx="9525" cy="5823857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7234808" y="3624943"/>
            <a:ext cx="9525" cy="5823857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8" name="Text 16"/>
          <p:cNvSpPr/>
          <p:nvPr/>
        </p:nvSpPr>
        <p:spPr>
          <a:xfrm>
            <a:off x="9720943" y="4033157"/>
            <a:ext cx="7804241" cy="31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LOW-LEVEL · DETERMINISTIC CODE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20943" y="4444093"/>
            <a:ext cx="7804241" cy="424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&amp; 안전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781904" y="5059136"/>
            <a:ext cx="7110005" cy="2011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86690" indent="-186690" algn="l">
              <a:lnSpc>
                <a:spcPct val="18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perception · localization</a:t>
            </a:r>
            <a:endParaRPr lang="en-US" sz="2100" dirty="0"/>
          </a:p>
          <a:p>
            <a:pPr marL="186690" indent="-186690" algn="l">
              <a:lnSpc>
                <a:spcPct val="18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navigation · manipulation</a:t>
            </a:r>
            <a:endParaRPr lang="en-US" sz="2100" dirty="0"/>
          </a:p>
          <a:p>
            <a:pPr marL="186690" indent="-186690" algn="l">
              <a:lnSpc>
                <a:spcPct val="18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· safety 처리</a:t>
            </a:r>
            <a:endParaRPr lang="en-US" sz="2100" dirty="0"/>
          </a:p>
          <a:p>
            <a:pPr marL="186690" indent="-186690" algn="l">
              <a:lnSpc>
                <a:spcPct val="18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응답 검증 후 실행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ENVIRONMENT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19200"/>
            <a:ext cx="18021301" cy="718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환경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216729"/>
            <a:ext cx="9124440" cy="5334000"/>
          </a:xfrm>
          <a:prstGeom prst="roundRect">
            <a:avLst>
              <a:gd name="adj" fmla="val 2500"/>
            </a:avLst>
          </a:prstGeom>
          <a:gradFill rotWithShape="1">
            <a:gsLst>
              <a:gs pos="0">
                <a:srgbClr val="22304A">
                  <a:alpha val="100000"/>
                </a:srgbClr>
              </a:gs>
              <a:gs pos="100000">
                <a:srgbClr val="101728">
                  <a:alpha val="100000"/>
                </a:srgbClr>
              </a:gs>
            </a:gsLst>
            <a:lin ang="5400000" scaled="0"/>
          </a:gradFill>
          <a:ln w="5443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0843" y="6297386"/>
            <a:ext cx="2190750" cy="1905000"/>
          </a:xfrm>
          <a:prstGeom prst="roundRect">
            <a:avLst>
              <a:gd name="adj" fmla="val 5000"/>
            </a:avLst>
          </a:prstGeom>
          <a:solidFill>
            <a:srgbClr val="93A0B4">
              <a:alpha val="8000"/>
            </a:srgbClr>
          </a:solidFill>
          <a:ln w="16329">
            <a:solidFill>
              <a:srgbClr val="93A0B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281918" y="6573781"/>
            <a:ext cx="304800" cy="53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69690" y="7151348"/>
            <a:ext cx="1350934" cy="50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컨베이어 / 큐브 공급 구역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953305" y="7754541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2191430" y="7754541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29555" y="7754541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2667680" y="7754541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EAB308"/>
          </a:solidFill>
          <a:ln/>
        </p:spPr>
      </p:sp>
      <p:sp>
        <p:nvSpPr>
          <p:cNvPr id="12" name="Shape 10"/>
          <p:cNvSpPr/>
          <p:nvPr/>
        </p:nvSpPr>
        <p:spPr>
          <a:xfrm>
            <a:off x="1319893" y="3546022"/>
            <a:ext cx="1143000" cy="1143000"/>
          </a:xfrm>
          <a:prstGeom prst="roundRect">
            <a:avLst>
              <a:gd name="adj" fmla="val 8333"/>
            </a:avLst>
          </a:prstGeom>
          <a:solidFill>
            <a:srgbClr val="EF4444">
              <a:alpha val="14000"/>
            </a:srgbClr>
          </a:solidFill>
          <a:ln w="16329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4187" y="3807279"/>
            <a:ext cx="270527" cy="46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771820" y="4237265"/>
            <a:ext cx="3152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2720068" y="3546022"/>
            <a:ext cx="1143000" cy="1143000"/>
          </a:xfrm>
          <a:prstGeom prst="roundRect">
            <a:avLst>
              <a:gd name="adj" fmla="val 8333"/>
            </a:avLst>
          </a:prstGeom>
          <a:solidFill>
            <a:srgbClr val="22C55E">
              <a:alpha val="14000"/>
            </a:srgbClr>
          </a:solidFill>
          <a:ln w="16329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4362" y="3807279"/>
            <a:ext cx="270527" cy="46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3083123" y="4237265"/>
            <a:ext cx="4930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8566547" y="3546022"/>
            <a:ext cx="1143000" cy="1143000"/>
          </a:xfrm>
          <a:prstGeom prst="roundRect">
            <a:avLst>
              <a:gd name="adj" fmla="val 8333"/>
            </a:avLst>
          </a:prstGeom>
          <a:solidFill>
            <a:srgbClr val="3B82F6">
              <a:alpha val="16000"/>
            </a:srgbClr>
          </a:solidFill>
          <a:ln w="16329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40841" y="3807279"/>
            <a:ext cx="270527" cy="46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7EB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8983011" y="4237265"/>
            <a:ext cx="3861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8566547" y="7059386"/>
            <a:ext cx="1143000" cy="1143000"/>
          </a:xfrm>
          <a:prstGeom prst="roundRect">
            <a:avLst>
              <a:gd name="adj" fmla="val 8333"/>
            </a:avLst>
          </a:prstGeom>
          <a:solidFill>
            <a:srgbClr val="EAB308">
              <a:alpha val="16000"/>
            </a:srgbClr>
          </a:solidFill>
          <a:ln w="16329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40841" y="7320643"/>
            <a:ext cx="270527" cy="46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AB3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8909277" y="7750629"/>
            <a:ext cx="5337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yellow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4101193" y="6079672"/>
            <a:ext cx="1428750" cy="247650"/>
          </a:xfrm>
          <a:prstGeom prst="roundRect">
            <a:avLst>
              <a:gd name="adj" fmla="val 19231"/>
            </a:avLst>
          </a:prstGeom>
          <a:solidFill>
            <a:srgbClr val="3A4660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815443" y="6259286"/>
            <a:ext cx="247650" cy="1143000"/>
          </a:xfrm>
          <a:prstGeom prst="roundRect">
            <a:avLst>
              <a:gd name="adj" fmla="val 19231"/>
            </a:avLst>
          </a:prstGeom>
          <a:solidFill>
            <a:srgbClr val="3A4660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963206" y="7307036"/>
            <a:ext cx="419100" cy="419100"/>
          </a:xfrm>
          <a:prstGeom prst="ellipse">
            <a:avLst/>
          </a:prstGeom>
          <a:solidFill>
            <a:srgbClr val="22D3EE">
              <a:alpha val="18000"/>
            </a:srgbClr>
          </a:solidFill>
          <a:ln w="16329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1434" y="7323365"/>
            <a:ext cx="462643" cy="424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958443" y="7783286"/>
            <a:ext cx="504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0591291" y="3562860"/>
            <a:ext cx="7418631" cy="348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FIXED · 고정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0646536" y="4006453"/>
            <a:ext cx="6765165" cy="1721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목적지 패드 위치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표지판 · 배경색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장애물 배치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색상–패드 매칭 규칙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0591291" y="5976088"/>
            <a:ext cx="7418631" cy="348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RANDOM · 무작위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646536" y="6419680"/>
            <a:ext cx="6765165" cy="880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큐브 6개의 색상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시작 위치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0591291" y="7547372"/>
            <a:ext cx="694653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큐브는 매 실행 시작 시 A 구역에 제시되며, 집을 때마다 다음 큐브가 같은 구역에 나타납니다.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ENVIRONMENT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1" cy="718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표지판과 색상–패드 매칭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116036"/>
            <a:ext cx="16192501" cy="16329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2604407"/>
            <a:ext cx="1905000" cy="356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562350" y="2604407"/>
            <a:ext cx="13866496" cy="356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의미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" y="4204607"/>
            <a:ext cx="16192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8" name="Shape 6"/>
          <p:cNvSpPr/>
          <p:nvPr/>
        </p:nvSpPr>
        <p:spPr>
          <a:xfrm>
            <a:off x="1276350" y="3369129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141C2E"/>
          </a:solidFill>
          <a:ln w="16329">
            <a:solidFill>
              <a:srgbClr val="93A0B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254579" y="3385457"/>
            <a:ext cx="653143" cy="615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62350" y="3360964"/>
            <a:ext cx="13866496" cy="658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컨베이어 / 큐브 공급 구역 — </a:t>
            </a:r>
            <a:r>
              <a:rPr lang="en-US" sz="2250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목적지 패드 아님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0" y="5276850"/>
            <a:ext cx="16192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2" name="Text 10"/>
          <p:cNvSpPr/>
          <p:nvPr/>
        </p:nvSpPr>
        <p:spPr>
          <a:xfrm>
            <a:off x="1276350" y="4438650"/>
            <a:ext cx="1905000" cy="65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highlight>
                  <a:srgbClr val="EF444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 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62350" y="4438650"/>
            <a:ext cx="13866496" cy="65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빨간 배경 — </a:t>
            </a:r>
            <a:r>
              <a:rPr lang="en-US" sz="2250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빨간 큐브 목적지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6349093"/>
            <a:ext cx="16192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5" name="Text 13"/>
          <p:cNvSpPr/>
          <p:nvPr/>
        </p:nvSpPr>
        <p:spPr>
          <a:xfrm>
            <a:off x="1276350" y="5510893"/>
            <a:ext cx="1905000" cy="65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210F"/>
                </a:solidFill>
                <a:highlight>
                  <a:srgbClr val="22C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 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62350" y="5510893"/>
            <a:ext cx="13866496" cy="65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초록 배경 — </a:t>
            </a:r>
            <a:r>
              <a:rPr lang="en-US" sz="2250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초록 큐브 목적지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0" y="7421336"/>
            <a:ext cx="16192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8" name="Text 16"/>
          <p:cNvSpPr/>
          <p:nvPr/>
        </p:nvSpPr>
        <p:spPr>
          <a:xfrm>
            <a:off x="1276350" y="6583136"/>
            <a:ext cx="1905000" cy="65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highlight>
                  <a:srgbClr val="3B82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 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62350" y="6583136"/>
            <a:ext cx="13866496" cy="65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파란 배경 — </a:t>
            </a:r>
            <a:r>
              <a:rPr lang="en-US" sz="2250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파란 큐브 목적지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76350" y="7655379"/>
            <a:ext cx="1905000" cy="650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1F02"/>
                </a:solidFill>
                <a:highlight>
                  <a:srgbClr val="EAB308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 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562350" y="7655379"/>
            <a:ext cx="13866496" cy="650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노란 배경 — </a:t>
            </a:r>
            <a:r>
              <a:rPr lang="en-US" sz="2250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노란 큐브 목적지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PROJECT LEVELS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95400"/>
            <a:ext cx="18021301" cy="718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프로젝트 레벨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185307"/>
            <a:ext cx="18021301" cy="359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팀은 하나의 레벨을 선택합니다. 정보 제약이 커질수록 난이도와 배점이 함께 올라갑니다.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" y="2944586"/>
            <a:ext cx="5270472" cy="6504215"/>
          </a:xfrm>
          <a:prstGeom prst="roundRect">
            <a:avLst>
              <a:gd name="adj" fmla="val 2530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1793" y="3385457"/>
            <a:ext cx="13201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436479" y="3292929"/>
            <a:ext cx="533400" cy="53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81793" y="3946072"/>
            <a:ext cx="5073075" cy="402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Full-State Agent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1793" y="4367893"/>
            <a:ext cx="5073075" cy="359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scene_state 전체 사용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281793" y="4879522"/>
            <a:ext cx="4750243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상태 정보·entity ID·entity target go_to 사용. LLM task planning과 의사결정에 집중.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508722" y="2944586"/>
            <a:ext cx="5270472" cy="6504215"/>
          </a:xfrm>
          <a:prstGeom prst="roundRect">
            <a:avLst>
              <a:gd name="adj" fmla="val 2530"/>
            </a:avLst>
          </a:prstGeom>
          <a:solidFill>
            <a:srgbClr val="141C2E"/>
          </a:solidFill>
          <a:ln w="5443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8015" y="3385457"/>
            <a:ext cx="13201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992701" y="3292929"/>
            <a:ext cx="533400" cy="53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38015" y="3946072"/>
            <a:ext cx="5073075" cy="402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Adaptive Navigation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38015" y="4367893"/>
            <a:ext cx="5073075" cy="359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카메라 + 추정 좌표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6838015" y="4879522"/>
            <a:ext cx="4750243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scene_state 없음. perception·memory·좌표 추정·navigation을 결합해 성능을 점진적으로 개선.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2064944" y="2944586"/>
            <a:ext cx="5270472" cy="6504215"/>
          </a:xfrm>
          <a:prstGeom prst="roundRect">
            <a:avLst>
              <a:gd name="adj" fmla="val 2530"/>
            </a:avLst>
          </a:prstGeom>
          <a:gradFill rotWithShape="1">
            <a:gsLst>
              <a:gs pos="0">
                <a:srgbClr val="13283A">
                  <a:alpha val="100000"/>
                </a:srgbClr>
              </a:gs>
              <a:gs pos="100000">
                <a:srgbClr val="141C2E">
                  <a:alpha val="100000"/>
                </a:srgbClr>
              </a:gs>
            </a:gsLst>
            <a:lin ang="4500000" scaled="0"/>
          </a:gradFill>
          <a:ln w="5443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94236" y="3385457"/>
            <a:ext cx="13201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6548922" y="3292929"/>
            <a:ext cx="533400" cy="538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2394236" y="3946072"/>
            <a:ext cx="5073075" cy="402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Autonomous Vision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394236" y="4367893"/>
            <a:ext cx="5073075" cy="359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vision-only · go_to 금지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2394236" y="4879522"/>
            <a:ext cx="4750243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scene_state·좌표 go_to 없음. 카메라와 수동 제어, closed-loop visual feedback만으로 자율 수행.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 · FULL-STATE AGENT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19200"/>
            <a:ext cx="18021301" cy="69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43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상태 위에서 계획한다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20686"/>
            <a:ext cx="7883196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사용 가능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1007745" y="2628900"/>
            <a:ext cx="7187497" cy="130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scene_state · 정확한 entity ID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entity target 기반 go_to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관찰값 (선택)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4177563"/>
            <a:ext cx="7883196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집중할 것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007745" y="4585777"/>
            <a:ext cx="7187497" cy="880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task planning · 고수준 의사결정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pick / place 실행과 recovery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5713469"/>
            <a:ext cx="738153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5056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perception·localization은 요구되지 않습니다. helper: menlo_runner.scene, basics.go_to_entity, Workshop 4의 WorkshopAgent.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8576242" y="2220686"/>
            <a:ext cx="9635184" cy="29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entity navigation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8576242" y="2615293"/>
            <a:ext cx="8759258" cy="5451021"/>
          </a:xfrm>
          <a:prstGeom prst="roundRect">
            <a:avLst>
              <a:gd name="adj" fmla="val 3888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86485" y="2906486"/>
            <a:ext cx="8401550" cy="23955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</a:t>
            </a:r>
            <a:r>
              <a:rPr lang="en-US" sz="18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 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ctx.invoke(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"go_to" 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 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"target"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r>
              <a:rPr lang="en-US" sz="1875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"kind"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75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"entity" 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"entity_id"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75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"pad_C" 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}},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timeout_s= 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 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· ADAPTIVE NAVIGATION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19200"/>
            <a:ext cx="18021301" cy="69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43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보고, 추정하고, 접근한다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20686"/>
            <a:ext cx="7883196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수행할 것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1007745" y="2628900"/>
            <a:ext cx="7187497" cy="1721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시각적 target detection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set_velocity로 수동 접근 · pick/place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추정·기록한 좌표 한정 go_to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memory로 이후 navigation 개선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4598534"/>
            <a:ext cx="788319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5F68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starter: programs/project/en/level_1_starter.py · ko/level_1_starter_ko.py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8576242" y="2220686"/>
            <a:ext cx="9635184" cy="29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coordinate navigation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576242" y="2669999"/>
            <a:ext cx="8759258" cy="5973815"/>
          </a:xfrm>
          <a:prstGeom prst="roundRect">
            <a:avLst>
              <a:gd name="adj" fmla="val 3682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7435" y="2887436"/>
            <a:ext cx="8439650" cy="25979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</a:t>
            </a: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ctx.invoke(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"go_to"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 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"target"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"kind"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"pose"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"pose"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"frame_id"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"world"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"position"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[x, y, </a:t>
            </a: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]}}},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timeout_s= 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· AUTONOMOUS VISION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19200"/>
            <a:ext cx="18021301" cy="69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43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오직 시각으로 자율 주행한다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20686"/>
            <a:ext cx="8759191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수행할 것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1007745" y="2628900"/>
            <a:ext cx="7983856" cy="1721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큐브·패드 detect / track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set_head · set_velocity · visual feedback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장애물 회피 · target loss recovery</a:t>
            </a:r>
            <a:endParaRPr lang="en-US" sz="1950" dirty="0"/>
          </a:p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고수준 planning에 사용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4579484"/>
            <a:ext cx="875919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5C64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starter: programs/project/en/level_2_starter.py · ko/level_2_starter_ko.py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9372601" y="2220686"/>
            <a:ext cx="8759191" cy="29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closed-loop navigation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9372601" y="2634343"/>
            <a:ext cx="7962901" cy="756557"/>
          </a:xfrm>
          <a:prstGeom prst="roundRect">
            <a:avLst>
              <a:gd name="adj" fmla="val 10072"/>
            </a:avLst>
          </a:prstGeom>
          <a:solidFill>
            <a:srgbClr val="141C2E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1" y="3385457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0" name="Shape 8"/>
          <p:cNvSpPr/>
          <p:nvPr/>
        </p:nvSpPr>
        <p:spPr>
          <a:xfrm>
            <a:off x="9372601" y="2634343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1" name="Shape 9"/>
          <p:cNvSpPr/>
          <p:nvPr/>
        </p:nvSpPr>
        <p:spPr>
          <a:xfrm>
            <a:off x="9372601" y="2634343"/>
            <a:ext cx="27214" cy="756557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30058" y="2634343"/>
            <a:ext cx="9525" cy="756557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3" name="Text 11"/>
          <p:cNvSpPr/>
          <p:nvPr/>
        </p:nvSpPr>
        <p:spPr>
          <a:xfrm>
            <a:off x="9647465" y="2849336"/>
            <a:ext cx="7673830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974456" y="3543300"/>
            <a:ext cx="8759191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72601" y="3967843"/>
            <a:ext cx="7962901" cy="756557"/>
          </a:xfrm>
          <a:prstGeom prst="roundRect">
            <a:avLst>
              <a:gd name="adj" fmla="val 10072"/>
            </a:avLst>
          </a:prstGeom>
          <a:solidFill>
            <a:srgbClr val="141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9372601" y="4718957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7" name="Shape 15"/>
          <p:cNvSpPr/>
          <p:nvPr/>
        </p:nvSpPr>
        <p:spPr>
          <a:xfrm>
            <a:off x="9372601" y="3967843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8" name="Shape 16"/>
          <p:cNvSpPr/>
          <p:nvPr/>
        </p:nvSpPr>
        <p:spPr>
          <a:xfrm>
            <a:off x="9372601" y="3967843"/>
            <a:ext cx="27214" cy="756557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17330058" y="3967843"/>
            <a:ext cx="9525" cy="756557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0" name="Text 18"/>
          <p:cNvSpPr/>
          <p:nvPr/>
        </p:nvSpPr>
        <p:spPr>
          <a:xfrm>
            <a:off x="9647465" y="4182836"/>
            <a:ext cx="7673830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 briefly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974456" y="4876800"/>
            <a:ext cx="8759191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72601" y="5301343"/>
            <a:ext cx="7962901" cy="756557"/>
          </a:xfrm>
          <a:prstGeom prst="roundRect">
            <a:avLst>
              <a:gd name="adj" fmla="val 10072"/>
            </a:avLst>
          </a:prstGeom>
          <a:solidFill>
            <a:srgbClr val="141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9372601" y="6052458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4" name="Shape 22"/>
          <p:cNvSpPr/>
          <p:nvPr/>
        </p:nvSpPr>
        <p:spPr>
          <a:xfrm>
            <a:off x="9372601" y="5301343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372601" y="5301343"/>
            <a:ext cx="27214" cy="756557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7330058" y="5301343"/>
            <a:ext cx="9525" cy="756557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7" name="Text 25"/>
          <p:cNvSpPr/>
          <p:nvPr/>
        </p:nvSpPr>
        <p:spPr>
          <a:xfrm>
            <a:off x="9647465" y="5516336"/>
            <a:ext cx="7673830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 again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974456" y="6210300"/>
            <a:ext cx="8759191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372601" y="6634843"/>
            <a:ext cx="7962901" cy="756557"/>
          </a:xfrm>
          <a:prstGeom prst="roundRect">
            <a:avLst>
              <a:gd name="adj" fmla="val 10072"/>
            </a:avLst>
          </a:prstGeom>
          <a:solidFill>
            <a:srgbClr val="141C2E"/>
          </a:solidFill>
          <a:ln/>
        </p:spPr>
      </p:sp>
      <p:sp>
        <p:nvSpPr>
          <p:cNvPr id="30" name="Shape 28"/>
          <p:cNvSpPr/>
          <p:nvPr/>
        </p:nvSpPr>
        <p:spPr>
          <a:xfrm>
            <a:off x="9372601" y="7385958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31" name="Shape 29"/>
          <p:cNvSpPr/>
          <p:nvPr/>
        </p:nvSpPr>
        <p:spPr>
          <a:xfrm>
            <a:off x="9372601" y="6634843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32" name="Shape 30"/>
          <p:cNvSpPr/>
          <p:nvPr/>
        </p:nvSpPr>
        <p:spPr>
          <a:xfrm>
            <a:off x="9372601" y="6634843"/>
            <a:ext cx="27214" cy="756557"/>
          </a:xfrm>
          <a:prstGeom prst="rect">
            <a:avLst/>
          </a:prstGeom>
          <a:solidFill>
            <a:srgbClr val="F5B042"/>
          </a:solidFill>
          <a:ln/>
        </p:spPr>
      </p:sp>
      <p:sp>
        <p:nvSpPr>
          <p:cNvPr id="33" name="Shape 31"/>
          <p:cNvSpPr/>
          <p:nvPr/>
        </p:nvSpPr>
        <p:spPr>
          <a:xfrm>
            <a:off x="17330058" y="6634843"/>
            <a:ext cx="9525" cy="756557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34" name="Text 32"/>
          <p:cNvSpPr/>
          <p:nvPr/>
        </p:nvSpPr>
        <p:spPr>
          <a:xfrm>
            <a:off x="9647465" y="6849836"/>
            <a:ext cx="7673830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correct or stop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04850"/>
            <a:ext cx="18230851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31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PERMISSIONS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857250" y="1126671"/>
            <a:ext cx="18230851" cy="65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40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레벨별 허용 범위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57250" y="2569029"/>
            <a:ext cx="16573501" cy="16329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2160814"/>
            <a:ext cx="11724323" cy="32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정보 / 기능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68250" y="2160814"/>
            <a:ext cx="1428750" cy="32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287501" y="2160814"/>
            <a:ext cx="1428750" cy="32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906751" y="2160814"/>
            <a:ext cx="1428750" cy="32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7250" y="3143250"/>
            <a:ext cx="16573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" y="2709182"/>
            <a:ext cx="11724323" cy="35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scene_state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44425" y="2594882"/>
            <a:ext cx="1676400" cy="582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63676" y="2594882"/>
            <a:ext cx="1676400" cy="582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82926" y="2594882"/>
            <a:ext cx="1676400" cy="582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7250" y="3733800"/>
            <a:ext cx="16573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" y="3272518"/>
            <a:ext cx="117243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정확한 entity ID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544425" y="3158218"/>
            <a:ext cx="16764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63676" y="3158218"/>
            <a:ext cx="16764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782926" y="3158218"/>
            <a:ext cx="16764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7250" y="4291693"/>
            <a:ext cx="16573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28700" y="3863068"/>
            <a:ext cx="11724323" cy="348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entity target go_to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544425" y="3748768"/>
            <a:ext cx="1676400" cy="576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63676" y="3748768"/>
            <a:ext cx="1676400" cy="576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782926" y="3748768"/>
            <a:ext cx="1676400" cy="576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7250" y="4882243"/>
            <a:ext cx="16573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28700" y="4420961"/>
            <a:ext cx="117243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추정 pose go_to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544425" y="4306661"/>
            <a:ext cx="16764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63676" y="4306661"/>
            <a:ext cx="16764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782926" y="4306661"/>
            <a:ext cx="16764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57250" y="5440136"/>
            <a:ext cx="16573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30" name="Text 28"/>
          <p:cNvSpPr/>
          <p:nvPr/>
        </p:nvSpPr>
        <p:spPr>
          <a:xfrm>
            <a:off x="1028700" y="5011511"/>
            <a:ext cx="11724323" cy="348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set_velocity · set_head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544425" y="4897211"/>
            <a:ext cx="1676400" cy="576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163676" y="4897211"/>
            <a:ext cx="1676400" cy="576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782926" y="4897211"/>
            <a:ext cx="1676400" cy="576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57250" y="6030686"/>
            <a:ext cx="16573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35" name="Text 33"/>
          <p:cNvSpPr/>
          <p:nvPr/>
        </p:nvSpPr>
        <p:spPr>
          <a:xfrm>
            <a:off x="1028700" y="5569404"/>
            <a:ext cx="117243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카메라 관찰값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544425" y="5455104"/>
            <a:ext cx="16764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163676" y="5455104"/>
            <a:ext cx="16764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782926" y="5455104"/>
            <a:ext cx="16764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28700" y="6159954"/>
            <a:ext cx="11724323" cy="345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 LLM decision loop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544425" y="6045654"/>
            <a:ext cx="1676400" cy="574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4163676" y="6045654"/>
            <a:ext cx="1676400" cy="574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782926" y="6045654"/>
            <a:ext cx="1676400" cy="574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57250" y="6819901"/>
            <a:ext cx="1823085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6369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1·2는 카메라 입력으로 target 정보를 도출해야 합니다. raw scene_state, 정답 좌표, 정확한 entity ID, global asset map은 사용할 수 없습니다.</a:t>
            </a:r>
            <a:endParaRPr lang="en-US" sz="17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REQUIRED AGENT STRUCTURE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95400"/>
            <a:ext cx="18021301" cy="69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43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LLM 에이전트 구조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182586"/>
            <a:ext cx="12753975" cy="680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팀은 LLM-assisted decision loop를 구현합니다. 실행 중 target selection·recovery·skip·stop·hidden instruction 적응에 LLM이 참여해야 합니다.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73051" y="3339193"/>
            <a:ext cx="1626394" cy="707571"/>
          </a:xfrm>
          <a:prstGeom prst="roundRect">
            <a:avLst>
              <a:gd name="adj" fmla="val 13462"/>
            </a:avLst>
          </a:prstGeom>
          <a:solidFill>
            <a:srgbClr val="141C2E"/>
          </a:solidFill>
          <a:ln w="5443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26144" y="3516086"/>
            <a:ext cx="1196408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32795" y="3546022"/>
            <a:ext cx="302334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892278" y="3339193"/>
            <a:ext cx="1466340" cy="707571"/>
          </a:xfrm>
          <a:prstGeom prst="roundRect">
            <a:avLst>
              <a:gd name="adj" fmla="val 13462"/>
            </a:avLst>
          </a:prstGeom>
          <a:solidFill>
            <a:srgbClr val="141C2E"/>
          </a:solidFill>
          <a:ln w="5443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5371" y="3516086"/>
            <a:ext cx="1036354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decide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91968" y="3546022"/>
            <a:ext cx="302334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851452" y="3339193"/>
            <a:ext cx="1786363" cy="707571"/>
          </a:xfrm>
          <a:prstGeom prst="roundRect">
            <a:avLst>
              <a:gd name="adj" fmla="val 13462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04545" y="3516086"/>
            <a:ext cx="135637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771165" y="3546022"/>
            <a:ext cx="302334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30648" y="3339193"/>
            <a:ext cx="986263" cy="707571"/>
          </a:xfrm>
          <a:prstGeom prst="roundRect">
            <a:avLst>
              <a:gd name="adj" fmla="val 13462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83741" y="3516086"/>
            <a:ext cx="556277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250262" y="3546022"/>
            <a:ext cx="302334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609745" y="3339193"/>
            <a:ext cx="1466340" cy="707571"/>
          </a:xfrm>
          <a:prstGeom prst="roundRect">
            <a:avLst>
              <a:gd name="adj" fmla="val 13462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62838" y="3516086"/>
            <a:ext cx="1036354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209435" y="3546022"/>
            <a:ext cx="302334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568919" y="3339193"/>
            <a:ext cx="2586463" cy="707571"/>
          </a:xfrm>
          <a:prstGeom prst="roundRect">
            <a:avLst>
              <a:gd name="adj" fmla="val 13462"/>
            </a:avLst>
          </a:prstGeom>
          <a:solidFill>
            <a:srgbClr val="141C2E"/>
          </a:solidFill>
          <a:ln w="5443">
            <a:solidFill>
              <a:srgbClr val="F5B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22012" y="3516086"/>
            <a:ext cx="2157871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 memory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5288731" y="3546022"/>
            <a:ext cx="302334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↺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8268721"/>
            <a:ext cx="5295900" cy="1180079"/>
          </a:xfrm>
          <a:prstGeom prst="roundRect">
            <a:avLst>
              <a:gd name="adj" fmla="val 8071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4643" y="8521814"/>
            <a:ext cx="5226776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고수준 결정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24643" y="8891928"/>
            <a:ext cx="5226776" cy="341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큐브·target 우선순위·high-level action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6496050" y="8268721"/>
            <a:ext cx="5295900" cy="1180079"/>
          </a:xfrm>
          <a:prstGeom prst="roundRect">
            <a:avLst>
              <a:gd name="adj" fmla="val 8071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8193" y="8521814"/>
            <a:ext cx="5226776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대응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6768193" y="8891928"/>
            <a:ext cx="5226776" cy="341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recover · retry · skip · stop 판단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2039600" y="8268721"/>
            <a:ext cx="5295900" cy="1180079"/>
          </a:xfrm>
          <a:prstGeom prst="roundRect">
            <a:avLst>
              <a:gd name="adj" fmla="val 8071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11744" y="8521814"/>
            <a:ext cx="5226776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우선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311744" y="8891928"/>
            <a:ext cx="5226776" cy="341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코드는 실행 전 LLM 응답을 반드시 검증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STRUCTURED OUTPUT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19200"/>
            <a:ext cx="18021301" cy="69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43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응답 스키마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20686"/>
            <a:ext cx="9208133" cy="29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minimum schema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952500" y="2615293"/>
            <a:ext cx="8371030" cy="5317322"/>
          </a:xfrm>
          <a:prstGeom prst="roundRect">
            <a:avLst>
              <a:gd name="adj" fmla="val 3888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2743" y="2906486"/>
            <a:ext cx="8001675" cy="23955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"next_action"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75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"search_cube" 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"target_color"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75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"red" 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"reason"</a:t>
            </a: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 </a:t>
            </a:r>
            <a:r>
              <a:rPr lang="en-US" sz="1875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 red cube is visible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and not attempted recently." </a:t>
            </a:r>
            <a:endParaRPr lang="en-US" sz="1875" dirty="0"/>
          </a:p>
          <a:p>
            <a:pPr marL="0" indent="0" algn="l">
              <a:lnSpc>
                <a:spcPct val="165000"/>
              </a:lnSpc>
              <a:buNone/>
            </a:pPr>
            <a:r>
              <a:rPr lang="en-US" sz="1875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52500" y="8320297"/>
            <a:ext cx="862216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575E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field 가능: retry_limit · memory_update · priority_colors · delivery_limit · recovery_strategy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761680" y="2220686"/>
            <a:ext cx="8331110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허용 next_action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761680" y="2667000"/>
            <a:ext cx="1799715" cy="527957"/>
          </a:xfrm>
          <a:prstGeom prst="roundRect">
            <a:avLst>
              <a:gd name="adj" fmla="val 1443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38573" y="2786743"/>
            <a:ext cx="1522129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search_cube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1675694" y="2667000"/>
            <a:ext cx="2456940" cy="527957"/>
          </a:xfrm>
          <a:prstGeom prst="roundRect">
            <a:avLst>
              <a:gd name="adj" fmla="val 1443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52587" y="2786743"/>
            <a:ext cx="2179354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navigate_to_cube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4246934" y="2667000"/>
            <a:ext cx="1536842" cy="527957"/>
          </a:xfrm>
          <a:prstGeom prst="roundRect">
            <a:avLst>
              <a:gd name="adj" fmla="val 1443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23827" y="2786743"/>
            <a:ext cx="1259256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pick_cube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761680" y="3309257"/>
            <a:ext cx="1668236" cy="527957"/>
          </a:xfrm>
          <a:prstGeom prst="roundRect">
            <a:avLst>
              <a:gd name="adj" fmla="val 1443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38573" y="3429000"/>
            <a:ext cx="1390650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search_pad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11544215" y="3309257"/>
            <a:ext cx="2325461" cy="527957"/>
          </a:xfrm>
          <a:prstGeom prst="roundRect">
            <a:avLst>
              <a:gd name="adj" fmla="val 1443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21108" y="3429000"/>
            <a:ext cx="2047875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navigate_to_pad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3983977" y="3309257"/>
            <a:ext cx="1668236" cy="527957"/>
          </a:xfrm>
          <a:prstGeom prst="roundRect">
            <a:avLst>
              <a:gd name="adj" fmla="val 1443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60870" y="3429000"/>
            <a:ext cx="1390650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place_cube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15766512" y="3309257"/>
            <a:ext cx="1273969" cy="527957"/>
          </a:xfrm>
          <a:prstGeom prst="roundRect">
            <a:avLst>
              <a:gd name="adj" fmla="val 14433"/>
            </a:avLst>
          </a:prstGeom>
          <a:solidFill>
            <a:srgbClr val="141C2E"/>
          </a:solidFill>
          <a:ln w="5443">
            <a:solidFill>
              <a:srgbClr val="F5B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943405" y="3429000"/>
            <a:ext cx="996383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recover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9761680" y="3951514"/>
            <a:ext cx="1799715" cy="527957"/>
          </a:xfrm>
          <a:prstGeom prst="roundRect">
            <a:avLst>
              <a:gd name="adj" fmla="val 14433"/>
            </a:avLst>
          </a:prstGeom>
          <a:solidFill>
            <a:srgbClr val="141C2E"/>
          </a:solidFill>
          <a:ln w="5443">
            <a:solidFill>
              <a:srgbClr val="F5B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38573" y="4071257"/>
            <a:ext cx="1522129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skip_target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1675694" y="3951514"/>
            <a:ext cx="879617" cy="527957"/>
          </a:xfrm>
          <a:prstGeom prst="roundRect">
            <a:avLst>
              <a:gd name="adj" fmla="val 14433"/>
            </a:avLst>
          </a:prstGeom>
          <a:solidFill>
            <a:srgbClr val="141C2E"/>
          </a:solidFill>
          <a:ln w="5443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52587" y="4071257"/>
            <a:ext cx="602031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9761680" y="4708072"/>
            <a:ext cx="780094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575E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VLM은 선택 사항 — 표지판 읽기 같은 풍부한 scene understanding에 사용. 필수 구성요소는 structured text-LLM loop.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HIDDEN TASK ADAPTATION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95400"/>
            <a:ext cx="18021301" cy="69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43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숨겨진 지시에 적응한다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182586"/>
            <a:ext cx="1295019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목표만 하드코딩하지 말고 자연어 과제를 입력으로 받아야 합니다. final 직전, 공개 과제를 수정하는 hidden instruction이 추가될 수 있습니다.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3420836"/>
            <a:ext cx="8832533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가능한 변형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952500" y="3924300"/>
            <a:ext cx="8029576" cy="930984"/>
          </a:xfrm>
          <a:prstGeom prst="roundRect">
            <a:avLst>
              <a:gd name="adj" fmla="val 10231"/>
            </a:avLst>
          </a:prstGeom>
          <a:solidFill>
            <a:srgbClr val="141C2E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4849841"/>
            <a:ext cx="8029576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3924300"/>
            <a:ext cx="8029576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24300"/>
            <a:ext cx="27214" cy="930984"/>
          </a:xfrm>
          <a:prstGeom prst="rect">
            <a:avLst/>
          </a:prstGeom>
          <a:solidFill>
            <a:srgbClr val="F5B042"/>
          </a:solidFill>
          <a:ln/>
        </p:spPr>
      </p:sp>
      <p:sp>
        <p:nvSpPr>
          <p:cNvPr id="10" name="Shape 8"/>
          <p:cNvSpPr/>
          <p:nvPr/>
        </p:nvSpPr>
        <p:spPr>
          <a:xfrm>
            <a:off x="8976633" y="3924300"/>
            <a:ext cx="9525" cy="930984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1" name="Text 9"/>
          <p:cNvSpPr/>
          <p:nvPr/>
        </p:nvSpPr>
        <p:spPr>
          <a:xfrm>
            <a:off x="1265464" y="4196443"/>
            <a:ext cx="7666306" cy="424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지정된 개수의 큐브만 delivery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5064834"/>
            <a:ext cx="8029576" cy="930984"/>
          </a:xfrm>
          <a:prstGeom prst="roundRect">
            <a:avLst>
              <a:gd name="adj" fmla="val 10231"/>
            </a:avLst>
          </a:prstGeom>
          <a:solidFill>
            <a:srgbClr val="141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990375"/>
            <a:ext cx="8029576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5064834"/>
            <a:ext cx="8029576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" y="5064834"/>
            <a:ext cx="27214" cy="930984"/>
          </a:xfrm>
          <a:prstGeom prst="rect">
            <a:avLst/>
          </a:prstGeom>
          <a:solidFill>
            <a:srgbClr val="F5B042"/>
          </a:solidFill>
          <a:ln/>
        </p:spPr>
      </p:sp>
      <p:sp>
        <p:nvSpPr>
          <p:cNvPr id="16" name="Shape 14"/>
          <p:cNvSpPr/>
          <p:nvPr/>
        </p:nvSpPr>
        <p:spPr>
          <a:xfrm>
            <a:off x="8976633" y="5064834"/>
            <a:ext cx="9525" cy="930984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7" name="Text 15"/>
          <p:cNvSpPr/>
          <p:nvPr/>
        </p:nvSpPr>
        <p:spPr>
          <a:xfrm>
            <a:off x="1265464" y="5336977"/>
            <a:ext cx="7666306" cy="424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 이상의 큐브 색상 우선 처리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2500" y="6262518"/>
            <a:ext cx="827046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A5F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instruction은 final 전까지 비공개. 평가 중 소스 수정 불가 — prompt·schema·validation·memory로 설계.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05926" y="3420836"/>
            <a:ext cx="8832533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유용한 memory field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9305926" y="3867150"/>
            <a:ext cx="3957638" cy="604157"/>
          </a:xfrm>
          <a:prstGeom prst="roundRect">
            <a:avLst>
              <a:gd name="adj" fmla="val 1261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2818" y="4024993"/>
            <a:ext cx="3722581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DD8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delivered_count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3377864" y="3867150"/>
            <a:ext cx="3957638" cy="604157"/>
          </a:xfrm>
          <a:prstGeom prst="roundRect">
            <a:avLst>
              <a:gd name="adj" fmla="val 1261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54757" y="4024993"/>
            <a:ext cx="3722581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DD8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delivery_limit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9305926" y="4585607"/>
            <a:ext cx="3957638" cy="604157"/>
          </a:xfrm>
          <a:prstGeom prst="roundRect">
            <a:avLst>
              <a:gd name="adj" fmla="val 1261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82818" y="4743450"/>
            <a:ext cx="3722581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DD8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priority_colors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13377864" y="4585607"/>
            <a:ext cx="3957638" cy="604157"/>
          </a:xfrm>
          <a:prstGeom prst="roundRect">
            <a:avLst>
              <a:gd name="adj" fmla="val 1261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54757" y="4743450"/>
            <a:ext cx="3722581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DD8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held_color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9305926" y="5304065"/>
            <a:ext cx="3957638" cy="604157"/>
          </a:xfrm>
          <a:prstGeom prst="roundRect">
            <a:avLst>
              <a:gd name="adj" fmla="val 1261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82818" y="5461907"/>
            <a:ext cx="3722581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DD8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completed_colors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13377864" y="5304065"/>
            <a:ext cx="3957638" cy="604157"/>
          </a:xfrm>
          <a:prstGeom prst="roundRect">
            <a:avLst>
              <a:gd name="adj" fmla="val 1261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54757" y="5461907"/>
            <a:ext cx="3722581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DD8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failed_attempts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9305926" y="6022522"/>
            <a:ext cx="8029576" cy="604157"/>
          </a:xfrm>
          <a:prstGeom prst="roundRect">
            <a:avLst>
              <a:gd name="adj" fmla="val 12613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82818" y="6180365"/>
            <a:ext cx="7916677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DD8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recent_outcomes</a:t>
            </a:r>
            <a:endParaRPr lang="en-US" sz="17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04850"/>
            <a:ext cx="18021301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31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STARTER &amp; HELPERS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952500" y="1126671"/>
            <a:ext cx="18021301" cy="65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40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Starter Code와 Helper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027464"/>
            <a:ext cx="6138693" cy="29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helper modules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952500" y="2441122"/>
            <a:ext cx="5580630" cy="582386"/>
          </a:xfrm>
          <a:prstGeom prst="roundRect">
            <a:avLst>
              <a:gd name="adj" fmla="val 13084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393" y="2579914"/>
            <a:ext cx="53942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menlo_runner.scene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3128282"/>
            <a:ext cx="5580630" cy="582386"/>
          </a:xfrm>
          <a:prstGeom prst="roundRect">
            <a:avLst>
              <a:gd name="adj" fmla="val 13084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9393" y="3267075"/>
            <a:ext cx="53942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menlo_runner.basics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815443"/>
            <a:ext cx="5580630" cy="582386"/>
          </a:xfrm>
          <a:prstGeom prst="roundRect">
            <a:avLst>
              <a:gd name="adj" fmla="val 13084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393" y="3954236"/>
            <a:ext cx="53942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menlo_runner.perception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4502604"/>
            <a:ext cx="5580630" cy="582386"/>
          </a:xfrm>
          <a:prstGeom prst="roundRect">
            <a:avLst>
              <a:gd name="adj" fmla="val 13084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9393" y="4641397"/>
            <a:ext cx="53942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menlo_runner.navigation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5189765"/>
            <a:ext cx="5580630" cy="582386"/>
          </a:xfrm>
          <a:prstGeom prst="roundRect">
            <a:avLst>
              <a:gd name="adj" fmla="val 13084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9393" y="5328557"/>
            <a:ext cx="53942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menlo_runner.llm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5876925"/>
            <a:ext cx="5580630" cy="582386"/>
          </a:xfrm>
          <a:prstGeom prst="roundRect">
            <a:avLst>
              <a:gd name="adj" fmla="val 13084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9393" y="6015718"/>
            <a:ext cx="53942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9EE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menlo_runner.agents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71280" y="2027464"/>
            <a:ext cx="11400550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자주 쓰는 SDK call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6971280" y="2454728"/>
            <a:ext cx="10364136" cy="6954995"/>
          </a:xfrm>
          <a:prstGeom prst="roundRect">
            <a:avLst>
              <a:gd name="adj" fmla="val 2317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2473" y="2726872"/>
            <a:ext cx="10092674" cy="442640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jpeg   = </a:t>
            </a: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ctx.get_vision(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"pov"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 =  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ctx.state(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"robot_status"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ctx.invoke(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"set_head"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 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"yaw"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0.5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"pitch"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}, timeout_s=</a:t>
            </a: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ctx.invoke(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"set_velocity"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 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"vx"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0.25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"vy"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"wz"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"duration_s"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}, timeout_s=</a:t>
            </a: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pick  =  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ctx.invoke(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"pick_entity"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{...}, timeout_s=</a:t>
            </a: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 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place =  </a:t>
            </a:r>
            <a:endParaRPr lang="en-US" sz="18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ctx.invoke(</a:t>
            </a:r>
            <a:r>
              <a:rPr lang="en-US" sz="1800" dirty="0">
                <a:solidFill>
                  <a:srgbClr val="9BE8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"place_entity"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{}, timeout_s=</a:t>
            </a: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</a:t>
            </a:r>
            <a:r>
              <a:rPr lang="en-US" sz="1800" dirty="0">
                <a:solidFill>
                  <a:srgbClr val="CDD8EA"/>
                </a:solidFill>
                <a:highlight>
                  <a:srgbClr val="141C2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MANUAL CONTROL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19200"/>
            <a:ext cx="18021301" cy="674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set_velocity와 제한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198914"/>
            <a:ext cx="8780146" cy="29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parameters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952500" y="2612572"/>
            <a:ext cx="1362075" cy="35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vx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2362200" y="2628900"/>
            <a:ext cx="1540099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전진 속도, m/s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52500" y="3042557"/>
            <a:ext cx="1362075" cy="35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vy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2362200" y="3058886"/>
            <a:ext cx="2058548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방향 속도, m/s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52500" y="3472543"/>
            <a:ext cx="1362075" cy="35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wz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362200" y="3488872"/>
            <a:ext cx="1744597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yaw rate, rad/s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52500" y="3902529"/>
            <a:ext cx="1362075" cy="35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duration_s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2362200" y="3918857"/>
            <a:ext cx="1849092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 지속 시간, 초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52500" y="4503965"/>
            <a:ext cx="7981951" cy="772886"/>
          </a:xfrm>
          <a:prstGeom prst="roundRect">
            <a:avLst>
              <a:gd name="adj" fmla="val 12324"/>
            </a:avLst>
          </a:prstGeom>
          <a:solidFill>
            <a:srgbClr val="141C2E"/>
          </a:solidFill>
          <a:ln w="5443">
            <a:solidFill>
              <a:srgbClr val="F5B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4643" y="4738007"/>
            <a:ext cx="76771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|vx|, |vy| ≤ 1.5 · |wz| ≤ 0.6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" y="5448300"/>
            <a:ext cx="87801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set_velocity 명령은 실행 중인 go_to 또는 set_velocity 명령을 대체합니다.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353551" y="2198914"/>
            <a:ext cx="8780146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중요 제한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9415463" y="2645229"/>
            <a:ext cx="8152639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6688" indent="-166688" algn="l">
              <a:lnSpc>
                <a:spcPct val="175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L0 — scene_state · entity ID · entity-target go_to 사용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415463" y="3061947"/>
            <a:ext cx="8152639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6688" indent="-166688" algn="l">
              <a:lnSpc>
                <a:spcPct val="175000"/>
              </a:lnSpc>
              <a:buSzPct val="100000"/>
              <a:buChar char="•"/>
            </a:pPr>
            <a:r>
              <a:rPr lang="en-US" sz="18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 — </a:t>
            </a:r>
            <a:r>
              <a:rPr lang="en-US" sz="1875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추정·기록한 좌표</a:t>
            </a:r>
            <a:r>
              <a:rPr lang="en-US" sz="18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한해 coordinate go_to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415463" y="3478666"/>
            <a:ext cx="8152639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6688" indent="-166688" algn="l">
              <a:lnSpc>
                <a:spcPct val="175000"/>
              </a:lnSpc>
              <a:buSzPct val="100000"/>
              <a:buChar char="•"/>
            </a:pPr>
            <a:r>
              <a:rPr lang="en-US" sz="18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 — </a:t>
            </a:r>
            <a:r>
              <a:rPr lang="en-US" sz="1875" dirty="0">
                <a:solidFill>
                  <a:srgbClr val="FF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go_to 호출 금지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415463" y="3895385"/>
            <a:ext cx="8152639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6688" indent="-166688" algn="l">
              <a:lnSpc>
                <a:spcPct val="175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my_go_to_global — L0 전용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415463" y="4312104"/>
            <a:ext cx="8152639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6688" indent="-166688" algn="l">
              <a:lnSpc>
                <a:spcPct val="175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WorkshopAgent — L1·L2 제출에는 그대로 사용 불가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EVALUATION 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95400"/>
            <a:ext cx="18021301" cy="69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43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방식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411186"/>
            <a:ext cx="5283144" cy="6155872"/>
          </a:xfrm>
          <a:prstGeom prst="roundRect">
            <a:avLst>
              <a:gd name="adj" fmla="val 2163"/>
            </a:avLst>
          </a:prstGeom>
          <a:solidFill>
            <a:srgbClr val="141C2E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8561615"/>
            <a:ext cx="5283144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411186"/>
            <a:ext cx="5283144" cy="27214"/>
          </a:xfrm>
          <a:prstGeom prst="rect">
            <a:avLst/>
          </a:prstGeom>
          <a:solidFill>
            <a:srgbClr val="93A0B4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411186"/>
            <a:ext cx="9525" cy="6155872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8" name="Shape 6"/>
          <p:cNvSpPr/>
          <p:nvPr/>
        </p:nvSpPr>
        <p:spPr>
          <a:xfrm>
            <a:off x="6230201" y="2411186"/>
            <a:ext cx="9525" cy="6155872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9" name="Text 7"/>
          <p:cNvSpPr/>
          <p:nvPr/>
        </p:nvSpPr>
        <p:spPr>
          <a:xfrm>
            <a:off x="1262743" y="2762250"/>
            <a:ext cx="5128924" cy="31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62743" y="3173186"/>
            <a:ext cx="5128924" cy="402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단계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62743" y="3709307"/>
            <a:ext cx="4802538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 cube-color order와 무작위 robot starting position으로 자유롭게 테스트.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502344" y="2411186"/>
            <a:ext cx="5283229" cy="6155872"/>
          </a:xfrm>
          <a:prstGeom prst="roundRect">
            <a:avLst>
              <a:gd name="adj" fmla="val 2163"/>
            </a:avLst>
          </a:prstGeom>
          <a:solidFill>
            <a:srgbClr val="141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02344" y="8561615"/>
            <a:ext cx="5283229" cy="9525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02344" y="2411186"/>
            <a:ext cx="5283229" cy="2721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2344" y="2411186"/>
            <a:ext cx="9525" cy="6155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80130" y="2411186"/>
            <a:ext cx="9525" cy="6155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586" y="2762250"/>
            <a:ext cx="5129017" cy="31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INTERIM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12586" y="3173186"/>
            <a:ext cx="5129017" cy="402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평가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12586" y="3709307"/>
            <a:ext cx="4802625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hidden 색상 구성 1개 · hidden 시작 위치 1개. 같은 레벨 팀은 동일 setup. 결과·피드백으로 개선 가능.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2052272" y="2411186"/>
            <a:ext cx="5283229" cy="6155872"/>
          </a:xfrm>
          <a:prstGeom prst="roundRect">
            <a:avLst>
              <a:gd name="adj" fmla="val 2163"/>
            </a:avLst>
          </a:prstGeom>
          <a:gradFill rotWithShape="1">
            <a:gsLst>
              <a:gs pos="0">
                <a:srgbClr val="13283A">
                  <a:alpha val="100000"/>
                </a:srgbClr>
              </a:gs>
              <a:gs pos="100000">
                <a:srgbClr val="141C2E">
                  <a:alpha val="100000"/>
                </a:srgbClr>
              </a:gs>
            </a:gsLst>
            <a:lin ang="450000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12052272" y="8561615"/>
            <a:ext cx="5283229" cy="9525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52272" y="2411186"/>
            <a:ext cx="5283229" cy="2721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52272" y="2411186"/>
            <a:ext cx="9525" cy="6155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7330058" y="2411186"/>
            <a:ext cx="9525" cy="6155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12362515" y="2762250"/>
            <a:ext cx="5129017" cy="31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362515" y="3173186"/>
            <a:ext cx="5129017" cy="402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평가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362515" y="3709307"/>
            <a:ext cx="4802625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interim과 다른 hidden 색상·시작 위치 + 선택적 hidden 자연어 instruction 1개. 이 결과가 judging에 사용.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52500" y="8909957"/>
            <a:ext cx="163830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9144000"/>
            <a:ext cx="168744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과제는 항상 동일 — </a:t>
            </a:r>
            <a:r>
              <a:rPr lang="en-US" sz="18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Find and sort the six cubes into their matching destination pads. </a:t>
            </a:r>
            <a:r>
              <a:rPr lang="en-US" sz="18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| </a:t>
            </a:r>
            <a:r>
              <a:rPr lang="en-US" sz="1800" dirty="0">
                <a:solidFill>
                  <a:srgbClr val="FF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중 소스 수정 불가.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SCORING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95400"/>
            <a:ext cx="18021301" cy="69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43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기준 — 총 100점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163536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범주의 합으로 채점합니다. 이어지는 슬라이드에서 각 범주의 세부 기준을 다룹니다.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952500" y="3743325"/>
            <a:ext cx="30953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r>
              <a:rPr lang="en-US" sz="225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 Performance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992601" y="3721554"/>
            <a:ext cx="419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4159704"/>
            <a:ext cx="18021301" cy="29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올바르게 분류한 큐브 수 + delivery당 평균 LLM decision cycle 수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952500" y="4535261"/>
            <a:ext cx="16383001" cy="228600"/>
          </a:xfrm>
          <a:prstGeom prst="roundRect">
            <a:avLst>
              <a:gd name="adj" fmla="val 25000"/>
            </a:avLst>
          </a:prstGeom>
          <a:solidFill>
            <a:srgbClr val="141C2E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4535261"/>
            <a:ext cx="16383001" cy="228600"/>
          </a:xfrm>
          <a:prstGeom prst="rect">
            <a:avLst/>
          </a:prstGeom>
          <a:gradFill rotWithShape="1">
            <a:gsLst>
              <a:gs pos="0">
                <a:srgbClr val="0E7490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952500" y="5014232"/>
            <a:ext cx="23240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</a:t>
            </a:r>
            <a:r>
              <a:rPr lang="en-US" sz="225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Level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6992601" y="4992461"/>
            <a:ext cx="419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5430611"/>
            <a:ext cx="18021301" cy="29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project level의 제약 안에서의 성공적 수행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52500" y="5806168"/>
            <a:ext cx="16383001" cy="228600"/>
          </a:xfrm>
          <a:prstGeom prst="roundRect">
            <a:avLst>
              <a:gd name="adj" fmla="val 25000"/>
            </a:avLst>
          </a:prstGeom>
          <a:solidFill>
            <a:srgbClr val="141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5806168"/>
            <a:ext cx="12287250" cy="228600"/>
          </a:xfrm>
          <a:prstGeom prst="rect">
            <a:avLst/>
          </a:prstGeom>
          <a:gradFill rotWithShape="1">
            <a:gsLst>
              <a:gs pos="0">
                <a:srgbClr val="0E7490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952500" y="6285140"/>
            <a:ext cx="39346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r>
              <a:rPr lang="en-US" sz="225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Hidden Task Adaptation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6992601" y="6263368"/>
            <a:ext cx="419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2500" y="6701518"/>
            <a:ext cx="18021301" cy="29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hidden 자연어 instruction에 소스 수정 없이 대응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952500" y="7077076"/>
            <a:ext cx="16383001" cy="228600"/>
          </a:xfrm>
          <a:prstGeom prst="roundRect">
            <a:avLst>
              <a:gd name="adj" fmla="val 25000"/>
            </a:avLst>
          </a:prstGeom>
          <a:solidFill>
            <a:srgbClr val="141C2E"/>
          </a:solidFill>
          <a:ln/>
        </p:spPr>
      </p:sp>
      <p:sp>
        <p:nvSpPr>
          <p:cNvPr id="19" name="Shape 17"/>
          <p:cNvSpPr/>
          <p:nvPr/>
        </p:nvSpPr>
        <p:spPr>
          <a:xfrm>
            <a:off x="952500" y="7077076"/>
            <a:ext cx="8191501" cy="228600"/>
          </a:xfrm>
          <a:prstGeom prst="rect">
            <a:avLst/>
          </a:prstGeom>
          <a:gradFill rotWithShape="1">
            <a:gsLst>
              <a:gs pos="0">
                <a:srgbClr val="0E7490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952500" y="7556047"/>
            <a:ext cx="43931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</a:t>
            </a:r>
            <a:r>
              <a:rPr lang="en-US" sz="225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Engineering &amp; Presentation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6992601" y="7534276"/>
            <a:ext cx="419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52500" y="7972426"/>
            <a:ext cx="18021301" cy="29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설계 · 구현 결정 · 한계 논의의 발표 완성도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952500" y="8347982"/>
            <a:ext cx="16383001" cy="228600"/>
          </a:xfrm>
          <a:prstGeom prst="roundRect">
            <a:avLst>
              <a:gd name="adj" fmla="val 25000"/>
            </a:avLst>
          </a:prstGeom>
          <a:solidFill>
            <a:srgbClr val="141C2E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500" y="8347982"/>
            <a:ext cx="4095750" cy="228600"/>
          </a:xfrm>
          <a:prstGeom prst="rect">
            <a:avLst/>
          </a:prstGeom>
          <a:gradFill rotWithShape="1">
            <a:gsLst>
              <a:gs pos="0">
                <a:srgbClr val="0E7490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SCORING DETAIL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19200"/>
            <a:ext cx="18021301" cy="674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 Performance — 40점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179864"/>
            <a:ext cx="10975181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Completion · 30점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952500" y="2626179"/>
            <a:ext cx="9977438" cy="285750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4067" y="4512384"/>
            <a:ext cx="190500" cy="293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24643" y="4844398"/>
            <a:ext cx="1233232" cy="70502"/>
          </a:xfrm>
          <a:prstGeom prst="roundRect">
            <a:avLst>
              <a:gd name="adj" fmla="val 50000"/>
            </a:avLst>
          </a:prstGeom>
          <a:solidFill>
            <a:srgbClr val="3A4660"/>
          </a:solidFill>
          <a:ln/>
        </p:spPr>
      </p:sp>
      <p:sp>
        <p:nvSpPr>
          <p:cNvPr id="8" name="Text 6"/>
          <p:cNvSpPr/>
          <p:nvPr/>
        </p:nvSpPr>
        <p:spPr>
          <a:xfrm>
            <a:off x="1786958" y="4991100"/>
            <a:ext cx="184802" cy="27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150734" y="4206733"/>
            <a:ext cx="190500" cy="293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91225" y="4538748"/>
            <a:ext cx="1233317" cy="376152"/>
          </a:xfrm>
          <a:prstGeom prst="roundRect">
            <a:avLst>
              <a:gd name="adj" fmla="val 10129"/>
            </a:avLst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3153541" y="4991100"/>
            <a:ext cx="184802" cy="27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4460166" y="3807024"/>
            <a:ext cx="304800" cy="293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957893" y="4139038"/>
            <a:ext cx="1233232" cy="775862"/>
          </a:xfrm>
          <a:prstGeom prst="roundRect">
            <a:avLst>
              <a:gd name="adj" fmla="val 4911"/>
            </a:avLst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20208" y="4991100"/>
            <a:ext cx="184802" cy="27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826834" y="3407229"/>
            <a:ext cx="304800" cy="293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24475" y="3739243"/>
            <a:ext cx="1233317" cy="1175657"/>
          </a:xfrm>
          <a:prstGeom prst="roundRect">
            <a:avLst>
              <a:gd name="adj" fmla="val 3241"/>
            </a:avLst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5886791" y="4991100"/>
            <a:ext cx="184802" cy="27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7193502" y="3031076"/>
            <a:ext cx="304800" cy="293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91143" y="3363091"/>
            <a:ext cx="1233317" cy="1551810"/>
          </a:xfrm>
          <a:prstGeom prst="roundRect">
            <a:avLst>
              <a:gd name="adj" fmla="val 3089"/>
            </a:avLst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7253458" y="4991100"/>
            <a:ext cx="184802" cy="27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8560169" y="2879272"/>
            <a:ext cx="304800" cy="293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57810" y="3211286"/>
            <a:ext cx="1233317" cy="1703614"/>
          </a:xfrm>
          <a:prstGeom prst="roundRect">
            <a:avLst>
              <a:gd name="adj" fmla="val 3089"/>
            </a:avLst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8620126" y="4991100"/>
            <a:ext cx="184802" cy="27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926836" y="2879272"/>
            <a:ext cx="304800" cy="293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24478" y="3211286"/>
            <a:ext cx="1233317" cy="1703614"/>
          </a:xfrm>
          <a:prstGeom prst="roundRect">
            <a:avLst>
              <a:gd name="adj" fmla="val 3089"/>
            </a:avLst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9986793" y="4991100"/>
            <a:ext cx="184802" cy="27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52500" y="5617029"/>
            <a:ext cx="10975181" cy="27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가로축: 올바르게 분류한 큐브 수 · 세로축: 점수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1349038" y="2179864"/>
            <a:ext cx="6585109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Efficiency · 10점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11349038" y="2626179"/>
            <a:ext cx="5986463" cy="1349999"/>
          </a:xfrm>
          <a:prstGeom prst="roundRect">
            <a:avLst>
              <a:gd name="adj" fmla="val 8467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40231" y="2917372"/>
            <a:ext cx="5566199" cy="805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delivery 1개당 </a:t>
            </a:r>
            <a:r>
              <a:rPr lang="en-US" sz="1950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LLM decision cycle 수 </a:t>
            </a:r>
            <a:r>
              <a:rPr lang="en-US" sz="19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평가. 평균 cycle이 적을수록 높은 점수.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1349038" y="4185727"/>
            <a:ext cx="5986463" cy="1153886"/>
          </a:xfrm>
          <a:prstGeom prst="roundRect">
            <a:avLst>
              <a:gd name="adj" fmla="val 9906"/>
            </a:avLst>
          </a:prstGeom>
          <a:solidFill>
            <a:srgbClr val="141C2E"/>
          </a:solidFill>
          <a:ln w="5443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21181" y="4419770"/>
            <a:ext cx="560544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F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잘못된 placement는 benchmark 규칙에 따라 감점되거나 run을 종료시킬 수 있습니다.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SCORING DETAIL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19200"/>
            <a:ext cx="18021301" cy="674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Level &amp; Hidden Adaptation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179864"/>
            <a:ext cx="8759191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Level · 30점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952500" y="2626179"/>
            <a:ext cx="7962901" cy="707571"/>
          </a:xfrm>
          <a:prstGeom prst="roundRect">
            <a:avLst>
              <a:gd name="adj" fmla="val 13462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6543" y="2835729"/>
            <a:ext cx="2165288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0 · Full-State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8361250" y="2803072"/>
            <a:ext cx="396308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3457575"/>
            <a:ext cx="7962901" cy="707571"/>
          </a:xfrm>
          <a:prstGeom prst="roundRect">
            <a:avLst>
              <a:gd name="adj" fmla="val 13462"/>
            </a:avLst>
          </a:prstGeom>
          <a:solidFill>
            <a:srgbClr val="141C2E"/>
          </a:solidFill>
          <a:ln w="5443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6543" y="3667125"/>
            <a:ext cx="2561375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1 · Adaptive Nav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8361250" y="3634468"/>
            <a:ext cx="396308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4288972"/>
            <a:ext cx="7962901" cy="707571"/>
          </a:xfrm>
          <a:prstGeom prst="roundRect">
            <a:avLst>
              <a:gd name="adj" fmla="val 13462"/>
            </a:avLst>
          </a:prstGeom>
          <a:solidFill>
            <a:srgbClr val="141C2E"/>
          </a:solidFill>
          <a:ln w="5443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6543" y="4498522"/>
            <a:ext cx="3292554" cy="32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2 · Autonomous Vision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8361250" y="4465865"/>
            <a:ext cx="396308" cy="39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" y="5167993"/>
            <a:ext cx="7962901" cy="720498"/>
          </a:xfrm>
          <a:prstGeom prst="roundRect">
            <a:avLst>
              <a:gd name="adj" fmla="val 13220"/>
            </a:avLst>
          </a:prstGeom>
          <a:solidFill>
            <a:srgbClr val="101728"/>
          </a:solidFill>
          <a:ln w="5443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6543" y="5363936"/>
            <a:ext cx="824429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레벨 제약을 지키며 큐브 </a:t>
            </a:r>
            <a:r>
              <a:rPr lang="en-US" sz="1725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3개 이상 </a:t>
            </a:r>
            <a:r>
              <a:rPr lang="en-US" sz="17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delivery → 해당 레벨 </a:t>
            </a:r>
            <a:r>
              <a:rPr lang="en-US" sz="1725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</a:t>
            </a:r>
            <a:r>
              <a:rPr lang="en-US" sz="16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</a:t>
            </a:r>
            <a:r>
              <a:rPr lang="en-US" sz="16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까지</a:t>
            </a:r>
            <a:r>
              <a:rPr lang="en-US" sz="17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획득.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9372601" y="2179864"/>
            <a:ext cx="8759191" cy="332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Hidden Task Adaptation · 20점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9372601" y="2626179"/>
            <a:ext cx="87591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코드 수정 없이 </a:t>
            </a:r>
            <a:r>
              <a:rPr lang="en-US" sz="16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hidden 자연어 modification을 올바르게 해석·수행하는 능력.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72601" y="3140529"/>
            <a:ext cx="7962901" cy="725261"/>
          </a:xfrm>
          <a:prstGeom prst="roundRect">
            <a:avLst>
              <a:gd name="adj" fmla="val 13133"/>
            </a:avLst>
          </a:prstGeom>
          <a:solidFill>
            <a:srgbClr val="141C2E"/>
          </a:solidFill>
          <a:ln/>
        </p:spPr>
      </p:sp>
      <p:sp>
        <p:nvSpPr>
          <p:cNvPr id="19" name="Shape 17"/>
          <p:cNvSpPr/>
          <p:nvPr/>
        </p:nvSpPr>
        <p:spPr>
          <a:xfrm>
            <a:off x="9372601" y="3860347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0" name="Shape 18"/>
          <p:cNvSpPr/>
          <p:nvPr/>
        </p:nvSpPr>
        <p:spPr>
          <a:xfrm>
            <a:off x="9372601" y="3140529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372601" y="3140529"/>
            <a:ext cx="27214" cy="725261"/>
          </a:xfrm>
          <a:prstGeom prst="rect">
            <a:avLst/>
          </a:prstGeom>
          <a:solidFill>
            <a:srgbClr val="F5B042"/>
          </a:solidFill>
          <a:ln/>
        </p:spPr>
      </p:sp>
      <p:sp>
        <p:nvSpPr>
          <p:cNvPr id="22" name="Shape 20"/>
          <p:cNvSpPr/>
          <p:nvPr/>
        </p:nvSpPr>
        <p:spPr>
          <a:xfrm>
            <a:off x="17330058" y="3140529"/>
            <a:ext cx="9525" cy="725261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3" name="Text 21"/>
          <p:cNvSpPr/>
          <p:nvPr/>
        </p:nvSpPr>
        <p:spPr>
          <a:xfrm>
            <a:off x="9628415" y="3336472"/>
            <a:ext cx="77119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지정된 개수의 큐브만 delivery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372601" y="3989614"/>
            <a:ext cx="7962901" cy="725261"/>
          </a:xfrm>
          <a:prstGeom prst="roundRect">
            <a:avLst>
              <a:gd name="adj" fmla="val 13133"/>
            </a:avLst>
          </a:prstGeom>
          <a:solidFill>
            <a:srgbClr val="141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9372601" y="4709432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1" y="3989614"/>
            <a:ext cx="79629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7" name="Shape 25"/>
          <p:cNvSpPr/>
          <p:nvPr/>
        </p:nvSpPr>
        <p:spPr>
          <a:xfrm>
            <a:off x="9372601" y="3989614"/>
            <a:ext cx="27214" cy="725261"/>
          </a:xfrm>
          <a:prstGeom prst="rect">
            <a:avLst/>
          </a:prstGeom>
          <a:solidFill>
            <a:srgbClr val="F5B042"/>
          </a:solidFill>
          <a:ln/>
        </p:spPr>
      </p:sp>
      <p:sp>
        <p:nvSpPr>
          <p:cNvPr id="28" name="Shape 26"/>
          <p:cNvSpPr/>
          <p:nvPr/>
        </p:nvSpPr>
        <p:spPr>
          <a:xfrm>
            <a:off x="17330058" y="3989614"/>
            <a:ext cx="9525" cy="725261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29" name="Text 27"/>
          <p:cNvSpPr/>
          <p:nvPr/>
        </p:nvSpPr>
        <p:spPr>
          <a:xfrm>
            <a:off x="9628415" y="4185557"/>
            <a:ext cx="77119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 이상의 큐브 색상 우선 처리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372601" y="4886325"/>
            <a:ext cx="875919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A4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instruction은 final 전까지 비공개 — prompt · schema · validation · memory로 대비.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SCORING DETAIL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19200"/>
            <a:ext cx="18021301" cy="674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Engineering &amp; Presentation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179864"/>
            <a:ext cx="8759191" cy="522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25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발표 평가 항목 · 10점</a:t>
            </a:r>
            <a:endParaRPr lang="en-US" sz="2625" dirty="0"/>
          </a:p>
        </p:txBody>
      </p:sp>
      <p:sp>
        <p:nvSpPr>
          <p:cNvPr id="5" name="Text 3"/>
          <p:cNvSpPr/>
          <p:nvPr/>
        </p:nvSpPr>
        <p:spPr>
          <a:xfrm>
            <a:off x="952500" y="2816679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05605" y="2843893"/>
            <a:ext cx="41830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AI-agentic robotics로의 확장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52500" y="3331029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05605" y="3358243"/>
            <a:ext cx="24423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시스템 아키텍처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52500" y="3845379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05605" y="3872593"/>
            <a:ext cx="36089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설계 결정 · 구현 highlight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2500" y="4359729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05605" y="4386943"/>
            <a:ext cx="30757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안에서 LLM의 역할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2500" y="4874079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05605" y="4901293"/>
            <a:ext cx="32219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· recovery 전략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2500" y="5388429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05605" y="5415643"/>
            <a:ext cx="25140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접근 방식의 한계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72601" y="2179864"/>
            <a:ext cx="8759191" cy="522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25" dirty="0">
                <a:solidFill>
                  <a:srgbClr val="F5B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공통 요구사항 · 전 범주 전제</a:t>
            </a:r>
            <a:endParaRPr lang="en-US" sz="2625" dirty="0"/>
          </a:p>
        </p:txBody>
      </p:sp>
      <p:sp>
        <p:nvSpPr>
          <p:cNvPr id="18" name="Text 16"/>
          <p:cNvSpPr/>
          <p:nvPr/>
        </p:nvSpPr>
        <p:spPr>
          <a:xfrm>
            <a:off x="9372601" y="2816679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5B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725706" y="2843893"/>
            <a:ext cx="29878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결정 설명 · 한계 논의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72601" y="3321504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F5B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725706" y="3348718"/>
            <a:ext cx="327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과제를 입력으로 받기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72601" y="3826329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F5B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725706" y="3853543"/>
            <a:ext cx="33706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번의 workshop 개념 사용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72601" y="4331154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F5B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725706" y="4358368"/>
            <a:ext cx="41830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LLM-assisted decision loop 구현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72601" y="4835979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F5B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25706" y="4863193"/>
            <a:ext cx="48073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structured output + 실행 전 validation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72601" y="5340804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F5B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725706" y="5368018"/>
            <a:ext cx="43918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 · result · camera로 결과 검증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372601" y="5845629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F5B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25706" y="5872843"/>
            <a:ext cx="57681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observation · decision · action · outcome log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372601" y="6350454"/>
            <a:ext cx="3150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F5B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725706" y="6377668"/>
            <a:ext cx="48665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navigation · pick · place 실패 recovery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11203A">
                  <a:alpha val="100000"/>
                </a:srgbClr>
              </a:gs>
              <a:gs pos="55000">
                <a:srgbClr val="080B14">
                  <a:alpha val="100000"/>
                </a:srgbClr>
              </a:gs>
            </a:gsLst>
            <a:path path="circle">
              <a:fillToRect l="20000" t="90000" r="80000" b="1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47800"/>
            <a:ext cx="17811751" cy="79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400" b="1" kern="0" spc="-108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발표에서 보여줄 것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47750" y="4476410"/>
            <a:ext cx="311093" cy="3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415992" y="4503624"/>
            <a:ext cx="2577669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시스템 아키텍처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429751" y="4476410"/>
            <a:ext cx="311093" cy="3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797994" y="4503623"/>
            <a:ext cx="4949637" cy="351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설계 결정과 구현 highlight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047750" y="5007854"/>
            <a:ext cx="311093" cy="3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415993" y="5035068"/>
            <a:ext cx="3015330" cy="398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안에서 LLM의 역할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429751" y="5007854"/>
            <a:ext cx="311093" cy="3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9797994" y="5035068"/>
            <a:ext cx="28997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· recovery 전략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047750" y="5539298"/>
            <a:ext cx="311093" cy="3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415993" y="5566512"/>
            <a:ext cx="2843392" cy="39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접근 방식의 한계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429751" y="5539298"/>
            <a:ext cx="311093" cy="398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797994" y="5566513"/>
            <a:ext cx="34144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93A0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agentic robotics로의 확장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047750" y="8173556"/>
            <a:ext cx="16192501" cy="9525"/>
          </a:xfrm>
          <a:prstGeom prst="rect">
            <a:avLst/>
          </a:prstGeom>
          <a:solidFill>
            <a:srgbClr val="2230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8464749"/>
            <a:ext cx="12573000" cy="491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E9EE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simulated environment를 넘어, LLM이 지휘하는 자율 에이전트를 설계하세요.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47750" y="9089572"/>
            <a:ext cx="17811751" cy="321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3A0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 → decide → validate → act → verify → update memory ↺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2591</Words>
  <Application>Microsoft Office PowerPoint</Application>
  <PresentationFormat>사용자 지정</PresentationFormat>
  <Paragraphs>436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JetBrains Mono</vt:lpstr>
      <vt:lpstr>Pretendard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명희 이</cp:lastModifiedBy>
  <cp:revision>2</cp:revision>
  <dcterms:created xsi:type="dcterms:W3CDTF">2026-06-28T14:53:19Z</dcterms:created>
  <dcterms:modified xsi:type="dcterms:W3CDTF">2026-06-28T14:59:22Z</dcterms:modified>
</cp:coreProperties>
</file>